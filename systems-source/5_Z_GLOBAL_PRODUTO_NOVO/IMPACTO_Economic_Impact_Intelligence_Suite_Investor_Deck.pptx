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Essencial ($1.5-2.5K)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180000</c:v>
                </c:pt>
                <c:pt idx="1">
                  <c:v>360000</c:v>
                </c:pt>
                <c:pt idx="2">
                  <c:v>540000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Profissional ($3.5-5.5K)</c:v>
                </c:pt>
              </c:strCache>
            </c:strRef>
          </c:tx>
          <c:spPr>
            <a:solidFill>
              <a:srgbClr val="D4A8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280000</c:v>
                </c:pt>
                <c:pt idx="1">
                  <c:v>630000</c:v>
                </c:pt>
                <c:pt idx="2">
                  <c:v>1050000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Enterprise ($7.5-12K)</c:v>
                </c:pt>
              </c:strCache>
            </c:strRef>
          </c:tx>
          <c:spPr>
            <a:solidFill>
              <a:srgbClr val="0A16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195000</c:v>
                </c:pt>
                <c:pt idx="1">
                  <c:v>487500</c:v>
                </c:pt>
                <c:pt idx="2">
                  <c:v>975000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1423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1423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1423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14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1423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1423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1423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1423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1423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800" kern="0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IMPACTO®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 Intelligence Suite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31520" y="2697480"/>
            <a:ext cx="27432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de Fortalecimento de Petições EB-2 NIW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COMMUNICATION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 |  MARCH 2026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Crise de Aprovação do EB-2 NIW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5603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43.31%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Aprovação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(mínima histórica)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5603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28016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508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~61%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83280" y="23317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Parcial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(ainda frágil)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280160"/>
            <a:ext cx="25603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128016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1508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23317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RFEs por Falta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Econômico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USCIS agora exige evidências concretas e quantificáveis de impacto econômico.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Narrativas persuasivas sem dados objetivos são sistematicamente negadas. O ATLAS (sistema de IA da USCIS) detecta padrões genéricos e linguagem boilerplate, elevando petições sem métricas econômicas reais para análise prioritária de RFE.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81888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COMMUNICATION  |  IMPACTO® Economic Impact Intelligence Suite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OPORTUNIDADE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Mercado de US$ 2.1 Bilhões Sem Produto Dedicado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Dimensionamento do Mercado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9202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~60.000 petições NIW/ano (FY2025)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Fee médio OBBBA: US$ 2.805 (nova taxa 2026)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</a:rPr>
              <a:t>TAM serviços complementares: ~US$ 2.1B/ano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0D9488"/>
                </a:solidFill>
              </a:rPr>
              <a:t>Nenhum player brasileiro oferece EIA dedicado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Concorrentes US: Carnegie ($3.5K+), ProfVal (RIMS II)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EF4444"/>
                </a:solidFill>
              </a:rPr>
              <a:t>Gap: Nenhum oferece suite completa de variações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23444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173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Competitivo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920240"/>
          <a:ext cx="35661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1371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Player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Variações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Carnegie Eval.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IMPLAN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1 (EIA básico)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ProfVal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RIMS II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1 (EIA básico)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Impact DataSrc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IMPLAN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2 (EIA + Regional)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IMPACTO® (Global)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Multi-Model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10+ variações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4" name="Text 9"/>
          <p:cNvSpPr/>
          <p:nvPr/>
        </p:nvSpPr>
        <p:spPr>
          <a:xfrm>
            <a:off x="731520" y="481888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COMMUNICATION  |  IMPACTO® Economic Impact Intelligence Suite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APRESENTANDO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IMPACTO® — Economic Impact Intelligence Suite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e mais completa suíte de análise de impacto econômico do mercado de imigração, projetada especificamente para fortalecer petições EB-2 NIW sob o novo paradigma Dhanasar.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651760" cy="1234440"/>
          </a:xfrm>
          <a:prstGeom prst="rect">
            <a:avLst/>
          </a:prstGeom>
          <a:solidFill>
            <a:srgbClr val="1423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2402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212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Input-Output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IMPLAN, RIMS II e EPI multipliers integrados em um framework proprietário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2103120"/>
            <a:ext cx="2651760" cy="1234440"/>
          </a:xfrm>
          <a:prstGeom prst="rect">
            <a:avLst/>
          </a:prstGeom>
          <a:solidFill>
            <a:srgbClr val="1423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2402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2212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Regional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2900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em MSAs específicas, áreas deprimidas e zonas de oportunidade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2103120"/>
            <a:ext cx="2651760" cy="1234440"/>
          </a:xfrm>
          <a:prstGeom prst="rect">
            <a:avLst/>
          </a:prstGeom>
          <a:solidFill>
            <a:srgbClr val="1423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2402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29400" y="2212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Setorial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26364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 por NAICS, supply chain e cluster econômico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3520440"/>
            <a:ext cx="2651760" cy="1234440"/>
          </a:xfrm>
          <a:prstGeom prst="rect">
            <a:avLst/>
          </a:prstGeom>
          <a:solidFill>
            <a:srgbClr val="1423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65760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0120" y="3630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Fiscal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94360" y="4023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tributária federal, estadual e local gerada pelo endeavor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291840" y="3520440"/>
            <a:ext cx="2651760" cy="1234440"/>
          </a:xfrm>
          <a:prstGeom prst="rect">
            <a:avLst/>
          </a:prstGeom>
          <a:solidFill>
            <a:srgbClr val="1423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65760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794760" y="3630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Empregabilidade EPI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3429000" y="4023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Empregos diretos, indiretos e induzidos via multiplicadores do EPI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126480" y="3520440"/>
            <a:ext cx="2651760" cy="1234440"/>
          </a:xfrm>
          <a:prstGeom prst="rect">
            <a:avLst/>
          </a:prstGeom>
          <a:solidFill>
            <a:srgbClr val="1423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657600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629400" y="3630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Sensibilidade &amp; Cenários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6263640" y="4023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conservadora, moderada e agressiva com intervalos de confiança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DO PRODUTO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Módulos de Impacto Econômico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9436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1207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 Core Report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481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IMPLAN/RIMS II: direto + indireto + induzido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59436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40680" y="1207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Impact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40680" y="1481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MSA, condado ou zona de oportunidade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87452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1874520"/>
            <a:ext cx="59436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1892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Sectoral Impact Analysis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2167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 NAICS, clusters e cadeias setoriais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87452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874520"/>
            <a:ext cx="59436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40680" y="1892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Revenue Projection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40680" y="2167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Federal, estadual e local (income, sales, property)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56032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560320"/>
            <a:ext cx="59436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" y="2578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Mapping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3000" y="2852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Upstream/downstream, fornecedores US e gap analysis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56032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560320"/>
            <a:ext cx="59436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40680" y="2578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 Employment Impact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40680" y="2852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 indústrias privadas, supplier + re-spending jobs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24612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246120"/>
            <a:ext cx="59436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" y="3264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Alignment Matrix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43000" y="3538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Act, IRA, EO 14110, CET List, NSTC Strategy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24612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246120"/>
            <a:ext cx="59436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40680" y="3264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Advantage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40680" y="3538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vs. soluções convencionais do mercado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393192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7200" y="3931920"/>
            <a:ext cx="59436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3931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43000" y="3950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&amp; Scenarios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143000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cenários com intervalos de confiança estatísticos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4880" y="393192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54880" y="3931920"/>
            <a:ext cx="59436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2" name="Text 50"/>
          <p:cNvSpPr/>
          <p:nvPr/>
        </p:nvSpPr>
        <p:spPr>
          <a:xfrm>
            <a:off x="4754880" y="3931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40680" y="3950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440680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visual com KPIs e métricas chave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6" name="Text 54"/>
          <p:cNvSpPr/>
          <p:nvPr/>
        </p:nvSpPr>
        <p:spPr>
          <a:xfrm>
            <a:off x="731520" y="481888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COMMUNICATION  |  IMPACTO® Economic Impact Intelligence Suite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 |  EIA CORE REPORT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Impacto Econômico por Modelagem Input-Output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697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546 setores NAICS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classes de renda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model para trade flows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county-level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188720"/>
            <a:ext cx="269748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371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RIMS II (BEA)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governamental oficial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Multiplicadores regionais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credibilidade com USCIS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menor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188720"/>
            <a:ext cx="269748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371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EPI Multipliers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178308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 indústrias privadas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jobs + Re-spending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peer-reviewed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DO M1: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977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Empregos Diretos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(FTEs criados)  +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Empregos Indiretos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(supply chain)  +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Empregos Induzidos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(re-spending)  =  </a:t>
            </a:r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</a:rPr>
              <a:t>IMPACTO TOTAL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81888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COMMUNICATION  |  IMPACTO® Economic Impact Intelligence Suite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+ M5 + M6  |  MÓDULOS DE PROFUNDIDADE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Fiscal, Supply Chain e Empregabilidade EPI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3200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M4: TAX REVENUE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Federal Income Tax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State Income/Franchise Tax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Local Sales &amp; Property Tax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Payroll Tax (FICA/FUTA)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0D9488"/>
                </a:solidFill>
              </a:rPr>
              <a:t>Projeção 5 anos por tipo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Acumulado: contribuição fiscal total ao tesouro americano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8980" y="118872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8980" y="1188720"/>
            <a:ext cx="54864" cy="32004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325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M5: SUPPLY CHAIN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69164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Mapeamento upstream/downstream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Fornecedores americanos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Gap analysis da cadeia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Integração com NAICS codes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D4A843"/>
                </a:solidFill>
              </a:rPr>
              <a:t>Prova de interconexão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Visual: diagrama de fluxo de cadeia produtiva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18872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188720"/>
            <a:ext cx="54864" cy="3200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325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M6: EPI EMPLOYMENT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169164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Metodologia EPI (peer-reviewed)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179 indústrias privadas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Supplier jobs (indiretos)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Re-spending jobs (induzidos)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4B8A6"/>
                </a:solidFill>
              </a:rPr>
              <a:t>Multiplicador por $1M output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Diferencial: validação acadêmica complementar ao IMPLAN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1888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COMMUNICATION  |  IMPACTO® Economic Impact Intelligence Suite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COMERCIAL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de Produto e Posicionamento de Preço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3474720"/>
          </a:xfrm>
          <a:prstGeom prst="rect">
            <a:avLst/>
          </a:prstGeom>
          <a:solidFill>
            <a:srgbClr val="14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ESSENCIAL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$1,500 - $2,500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331720"/>
            <a:ext cx="18745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231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Módulos: M1 + M6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 Core Report + EPI Employment. Análise básica de impacto direto/indireto/induzido. Ideal para petições padrão.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606040" cy="3474720"/>
          </a:xfrm>
          <a:prstGeom prst="rect">
            <a:avLst/>
          </a:prstGeom>
          <a:solidFill>
            <a:srgbClr val="14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188720"/>
            <a:ext cx="26060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3716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PROFISSIONAL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46120" y="17830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$3,500 - $5,500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11880" y="2331720"/>
            <a:ext cx="18745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4231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Módulos: M1 + M2 + M4 + M6 + M9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83464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Essencial + Regional + Tax Revenue + Cenários. Para petições que precisam demonstrar impacto multidimensional.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1188720"/>
            <a:ext cx="2606040" cy="3474720"/>
          </a:xfrm>
          <a:prstGeom prst="rect">
            <a:avLst/>
          </a:prstGeom>
          <a:solidFill>
            <a:srgbClr val="14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188720"/>
            <a:ext cx="260604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13716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17830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$7,500 - $12,000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00800" y="2331720"/>
            <a:ext cx="18745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24231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Módulos: M1 a M10 (Suite Completa)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72200" y="283464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10 módulos. Supply chain, policy alignment, comparative advantage. Para casos complexos e RFE responses.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NEUTRALIZAÇÃO DE RFE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IMPACTO® Responde a Cada Ponto de Falha da USCIS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97280"/>
                <a:gridCol w="1371600"/>
                <a:gridCol w="3200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Objeção USCIS (RFE)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Pilar Dhanasar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Módulo IMPACTO®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Evidência Gerada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Falta de efeitos econômicos positivos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Pilar 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M1 + M6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Empregos + Output econômico total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Impacto local/estreito, sem importância nacional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Pilar 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M2 + M7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Análise regional + Policy alignment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Falta de progresso/evidência de tração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4A843"/>
                          </a:solidFill>
                        </a:rPr>
                        <a:t>Pilar 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M5 + M8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Supply chain + benchmarking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Petição não demonstra criação de empregos US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Pilar 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M1 + M4 + M6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FTEs + Tax revenue + EPI employment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Afirmações não apoiadas / genéricas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Todos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M9 + M10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Cenários + Dashboard visual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IMPACTO® transforma cada possível objeção da USCIS em uma oportunidade de evidência quantificável e verificável.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81888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COMMUNICATION  |  IMPACTO® Economic Impact Intelligence Suite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APLICAÇÃO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 Luciano Costa Ricci — Logística Internacional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3200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DA RFE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Pilar 2: Falta de evidência de que está well-positioned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Sem scope/size da empresa (income, employees, reach)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Sem contratos, invoices ou evidências de incorporação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Expert letter genérica — sem corroboração por dados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E293B"/>
                </a:solidFill>
              </a:rPr>
              <a:t>Pilar 3: Não demonstrou benefício econômico concreto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Skills/knowledge não articulados como não substituíveis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EF4444"/>
                </a:solidFill>
              </a:rPr>
              <a:t>Sem projeção de criação de empregos ou tax revenue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54864" cy="3200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 IMPACTO® (Enterprise)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M1: EIA demonstrando $2.3M output/ano em logística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M2: Regional impact no setor logístico de Orlando, FL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M4: Tax revenue de $187K/ano (federal+state+local)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M5: Supply chain mapping de 12+ fornecedores US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E293B"/>
                </a:solidFill>
              </a:rPr>
              <a:t>M6: EPI multiplier: 8.7 jobs por $1M em logistics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M7: Alinhamento com CHIPS Act (supply chain resilience)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0D9488"/>
                </a:solidFill>
              </a:rPr>
              <a:t>M9: 3 cenários com intervalos de confiança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81888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COMMUNICATION  |  IMPACTO® Economic Impact Intelligence Suite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DIFERENCIAL COMPETITIVO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IMPACTO® é Inédito no Mercado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1463040"/>
          </a:xfrm>
          <a:prstGeom prst="rect">
            <a:avLst/>
          </a:prstGeom>
          <a:solidFill>
            <a:srgbClr val="1423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298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Multi-Methodology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1737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produto que integra IMPLAN + RIMS II + EPI em um framework coeso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651760" cy="1463040"/>
          </a:xfrm>
          <a:prstGeom prst="rect">
            <a:avLst/>
          </a:prstGeom>
          <a:solidFill>
            <a:srgbClr val="1423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258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94760" y="1298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Módulos Modulares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429000" y="1737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por caso: de $1.5K (essencial) a $12K (enterprise)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26480" y="1188720"/>
            <a:ext cx="2651760" cy="1463040"/>
          </a:xfrm>
          <a:prstGeom prst="rect">
            <a:avLst/>
          </a:prstGeom>
          <a:solidFill>
            <a:srgbClr val="1423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29400" y="1298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Anti-Boilerplate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263640" y="1737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relatório é único, evitando detecção pelo ATLAS/ATA da USCIS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57200" y="2834640"/>
            <a:ext cx="2651760" cy="1463040"/>
          </a:xfrm>
          <a:prstGeom prst="rect">
            <a:avLst/>
          </a:prstGeom>
          <a:solidFill>
            <a:srgbClr val="1423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718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2944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Verificáveis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94360" y="33832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BEA, BLS, Census Bureau, EPI — todas auditáveis pelo officer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291840" y="2834640"/>
            <a:ext cx="2651760" cy="1463040"/>
          </a:xfrm>
          <a:prstGeom prst="rect">
            <a:avLst/>
          </a:prstGeom>
          <a:solidFill>
            <a:srgbClr val="1423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97180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94760" y="2944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County-Level Precision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429000" y="33832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granular por condado, MSA e zona de oportunidade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126480" y="2834640"/>
            <a:ext cx="2651760" cy="1463040"/>
          </a:xfrm>
          <a:prstGeom prst="rect">
            <a:avLst/>
          </a:prstGeom>
          <a:solidFill>
            <a:srgbClr val="14234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97180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29400" y="2944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Dhanasar-Engineered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6263640" y="33832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output mapeado diretamente para um pilar específico de Dhanasar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PROJEÇÃO FINANCEIRA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Projetada do IMPACTO® (Anos 1-3)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188720"/>
            <a:ext cx="30175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06440" y="1234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Ano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223760" y="12070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$655K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806440" y="155448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 clientes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669280" y="1965960"/>
            <a:ext cx="30175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0644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Ano 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223760" y="198424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$2.57M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806440" y="23317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~370 clientes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669280" y="2743200"/>
            <a:ext cx="30175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06440" y="2788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Bruta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223760" y="2761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72-85%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806440" y="310896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valor, baixo COGS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669280" y="3520440"/>
            <a:ext cx="30175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806440" y="3566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Estimado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223760" y="35387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$180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806440" y="38862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existente Global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481888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COMMUNICATION  |  IMPACTO® Economic Impact Intelligence Suite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em 4 Fases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01168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34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1-2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Licenciamento IMPLAN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M1-M6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economista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produção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23444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234440"/>
            <a:ext cx="201168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1234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17520" y="1234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1783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3-4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210312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launch tier Essencial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com 10 clientes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Refinamento de QA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de processo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23444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234440"/>
            <a:ext cx="201168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234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12080" y="1234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1783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5-8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10312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tier Profissional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BP pipeline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dedicado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de vendas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123444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1234440"/>
            <a:ext cx="201168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1234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06640" y="1234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1783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9-12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40880" y="210312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completa (10 módulos)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parcial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 com law firms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internacional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81888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COMMUNICATION  |  IMPACTO® Economic Impact Intelligence Suite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1423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1423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1423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14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1423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1423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1423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1423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1423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600" kern="0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IMPACTO®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1371600" y="19202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narrativas genéricas a evidências econômicas inquestionáveis.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0400" y="2651760"/>
            <a:ext cx="27432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28346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produto do mercado de imigração que transforma cada dólar investido pelo peticionário em evidência quantificável de impacto econômico nacional.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0" y="3840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COMMUNICATION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28800" y="4206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contato@globalcommunication.com.br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IMPACTO® — Economic Impact Intelligence Suite</dc:title>
  <dc:subject>PptxGenJS Presentation</dc:subject>
  <dc:creator>Global Communication</dc:creator>
  <cp:lastModifiedBy>Global Communication</cp:lastModifiedBy>
  <cp:revision>1</cp:revision>
  <dcterms:created xsi:type="dcterms:W3CDTF">2026-03-12T13:48:33Z</dcterms:created>
  <dcterms:modified xsi:type="dcterms:W3CDTF">2026-03-12T13:48:33Z</dcterms:modified>
</cp:coreProperties>
</file>